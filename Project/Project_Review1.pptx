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supuleti Moukshitha" userId="96a0124066ea4cdb" providerId="LiveId" clId="{A6E665FC-7D6A-411D-A2D8-92B0C298D0CD}"/>
    <pc:docChg chg="modSld">
      <pc:chgData name="Pasupuleti Moukshitha" userId="96a0124066ea4cdb" providerId="LiveId" clId="{A6E665FC-7D6A-411D-A2D8-92B0C298D0CD}" dt="2026-09-11T03:26:44.878" v="7" actId="123"/>
      <pc:docMkLst>
        <pc:docMk/>
      </pc:docMkLst>
      <pc:sldChg chg="modSp mod">
        <pc:chgData name="Pasupuleti Moukshitha" userId="96a0124066ea4cdb" providerId="LiveId" clId="{A6E665FC-7D6A-411D-A2D8-92B0C298D0CD}" dt="2026-09-11T03:26:44.878" v="7" actId="123"/>
        <pc:sldMkLst>
          <pc:docMk/>
          <pc:sldMk cId="4118855268" sldId="260"/>
        </pc:sldMkLst>
        <pc:spChg chg="mod">
          <ac:chgData name="Pasupuleti Moukshitha" userId="96a0124066ea4cdb" providerId="LiveId" clId="{A6E665FC-7D6A-411D-A2D8-92B0C298D0CD}" dt="2026-09-11T03:26:44.878" v="7" actId="123"/>
          <ac:spMkLst>
            <pc:docMk/>
            <pc:sldMk cId="4118855268" sldId="260"/>
            <ac:spMk id="6" creationId="{B052F10A-E732-5CF9-35F7-FE71CB843827}"/>
          </ac:spMkLst>
        </pc:spChg>
      </pc:sldChg>
      <pc:sldChg chg="modSp mod">
        <pc:chgData name="Pasupuleti Moukshitha" userId="96a0124066ea4cdb" providerId="LiveId" clId="{A6E665FC-7D6A-411D-A2D8-92B0C298D0CD}" dt="2026-09-11T03:17:29.331" v="5" actId="1076"/>
        <pc:sldMkLst>
          <pc:docMk/>
          <pc:sldMk cId="2247602601" sldId="262"/>
        </pc:sldMkLst>
        <pc:spChg chg="mod">
          <ac:chgData name="Pasupuleti Moukshitha" userId="96a0124066ea4cdb" providerId="LiveId" clId="{A6E665FC-7D6A-411D-A2D8-92B0C298D0CD}" dt="2026-09-11T03:17:20.948" v="3" actId="1076"/>
          <ac:spMkLst>
            <pc:docMk/>
            <pc:sldMk cId="2247602601" sldId="262"/>
            <ac:spMk id="4" creationId="{4EE5F681-D3B5-BC4B-8AA4-5688DCEEFB44}"/>
          </ac:spMkLst>
        </pc:spChg>
        <pc:spChg chg="mod">
          <ac:chgData name="Pasupuleti Moukshitha" userId="96a0124066ea4cdb" providerId="LiveId" clId="{A6E665FC-7D6A-411D-A2D8-92B0C298D0CD}" dt="2026-09-11T03:17:24.594" v="4" actId="1076"/>
          <ac:spMkLst>
            <pc:docMk/>
            <pc:sldMk cId="2247602601" sldId="262"/>
            <ac:spMk id="14" creationId="{DD4CF64F-3FB6-0CE4-B778-63C5D5A1D343}"/>
          </ac:spMkLst>
        </pc:spChg>
        <pc:spChg chg="mod">
          <ac:chgData name="Pasupuleti Moukshitha" userId="96a0124066ea4cdb" providerId="LiveId" clId="{A6E665FC-7D6A-411D-A2D8-92B0C298D0CD}" dt="2026-09-11T03:17:29.331" v="5" actId="1076"/>
          <ac:spMkLst>
            <pc:docMk/>
            <pc:sldMk cId="2247602601" sldId="262"/>
            <ac:spMk id="17" creationId="{D25BC1A0-FDE4-1557-375E-6E0BD69BC77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11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11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11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11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11-09-2026 &amp; 8:15-9:50</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653011977"/>
              </p:ext>
            </p:extLst>
          </p:nvPr>
        </p:nvGraphicFramePr>
        <p:xfrm>
          <a:off x="8193271" y="4898509"/>
          <a:ext cx="3702050" cy="12192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Moukshitha</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2420030164</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Hasini</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2420030421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575057390"/>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IN" sz="1400" dirty="0"/>
                        <a:t>DR. N.SUNANDA</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11-09-2026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DS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93212" y="1756738"/>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893237" y="1996543"/>
            <a:ext cx="10715625" cy="523220"/>
          </a:xfrm>
          <a:prstGeom prst="rect">
            <a:avLst/>
          </a:prstGeom>
          <a:noFill/>
        </p:spPr>
        <p:txBody>
          <a:bodyPr wrap="square">
            <a:spAutoFit/>
          </a:bodyPr>
          <a:lstStyle/>
          <a:p>
            <a:pPr algn="ctr">
              <a:defRPr/>
            </a:pPr>
            <a:r>
              <a:rPr lang="en-IN" sz="2800" b="1" u="sng" dirty="0"/>
              <a:t>Finsight-Loan/Credit Risk Analyzer4</a:t>
            </a:r>
            <a:endParaRPr lang="en-IN" sz="2800" dirty="0"/>
          </a:p>
        </p:txBody>
      </p:sp>
      <p:sp>
        <p:nvSpPr>
          <p:cNvPr id="17" name="TextBox 16">
            <a:extLst>
              <a:ext uri="{FF2B5EF4-FFF2-40B4-BE49-F238E27FC236}">
                <a16:creationId xmlns:a16="http://schemas.microsoft.com/office/drawing/2014/main" id="{D25BC1A0-FDE4-1557-375E-6E0BD69BC77B}"/>
              </a:ext>
            </a:extLst>
          </p:cNvPr>
          <p:cNvSpPr txBox="1"/>
          <p:nvPr/>
        </p:nvSpPr>
        <p:spPr>
          <a:xfrm>
            <a:off x="738186" y="785591"/>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DS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11-09-2026</a:t>
            </a: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337555CD-0716-ACE1-BADD-831358315794}"/>
              </a:ext>
            </a:extLst>
          </p:cNvPr>
          <p:cNvSpPr txBox="1"/>
          <p:nvPr/>
        </p:nvSpPr>
        <p:spPr>
          <a:xfrm>
            <a:off x="1133874" y="2143432"/>
            <a:ext cx="10086816" cy="1754326"/>
          </a:xfrm>
          <a:prstGeom prst="rect">
            <a:avLst/>
          </a:prstGeom>
          <a:noFill/>
        </p:spPr>
        <p:txBody>
          <a:bodyPr wrap="square" rtlCol="0">
            <a:spAutoFit/>
          </a:bodyPr>
          <a:lstStyle/>
          <a:p>
            <a:pPr algn="just"/>
            <a:r>
              <a:rPr lang="en-IN" dirty="0"/>
              <a:t>Traditional loan and credit evaluation methods often struggle to accurately assess borrower risk due to complex financial and behavioural factors. This can lead to incorrect lending decisions, increased loan defaults, and financial losses. Therefore, there is a need for a </a:t>
            </a:r>
            <a:r>
              <a:rPr lang="en-IN" b="1" dirty="0"/>
              <a:t>data-driven and reliable credit risk analysis system</a:t>
            </a:r>
            <a:r>
              <a:rPr lang="en-IN" dirty="0"/>
              <a:t> that can analyse borrower information, predict the likelihood of loan default, and classify applicants into appropriate risk categories to support better and more responsible lending decisions.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C698625-B748-C27A-C167-79FEFE541FB4}"/>
              </a:ext>
            </a:extLst>
          </p:cNvPr>
          <p:cNvSpPr txBox="1"/>
          <p:nvPr/>
        </p:nvSpPr>
        <p:spPr>
          <a:xfrm>
            <a:off x="1455174" y="2116588"/>
            <a:ext cx="8836741" cy="1754326"/>
          </a:xfrm>
          <a:prstGeom prst="rect">
            <a:avLst/>
          </a:prstGeom>
          <a:noFill/>
        </p:spPr>
        <p:txBody>
          <a:bodyPr wrap="square">
            <a:spAutoFit/>
          </a:bodyPr>
          <a:lstStyle/>
          <a:p>
            <a:pPr marL="342900" lvl="0" indent="-342900" algn="just">
              <a:buFont typeface="Arial" panose="020B0604020202020204" pitchFamily="34" charset="0"/>
              <a:buChar char="•"/>
            </a:pPr>
            <a:r>
              <a:rPr lang="en-IN" dirty="0"/>
              <a:t>To analyse historical borrower and loan data to identify credit-risk patterns.</a:t>
            </a:r>
          </a:p>
          <a:p>
            <a:pPr marL="342900" lvl="0" indent="-342900" algn="just">
              <a:buFont typeface="Arial" panose="020B0604020202020204" pitchFamily="34" charset="0"/>
              <a:buChar char="•"/>
            </a:pPr>
            <a:r>
              <a:rPr lang="en-IN" dirty="0"/>
              <a:t>To preprocess and transform financial data for effective analysis.</a:t>
            </a:r>
          </a:p>
          <a:p>
            <a:pPr marL="342900" lvl="0" indent="-342900" algn="just">
              <a:buFont typeface="Arial" panose="020B0604020202020204" pitchFamily="34" charset="0"/>
              <a:buChar char="•"/>
            </a:pPr>
            <a:r>
              <a:rPr lang="en-IN" dirty="0"/>
              <a:t>To develop machine learning models for predicting loan default risk.</a:t>
            </a:r>
          </a:p>
          <a:p>
            <a:pPr marL="342900" lvl="0" indent="-342900" algn="just">
              <a:buFont typeface="Arial" panose="020B0604020202020204" pitchFamily="34" charset="0"/>
              <a:buChar char="•"/>
            </a:pPr>
            <a:r>
              <a:rPr lang="en-IN" dirty="0"/>
              <a:t>To classify applicants into different risk categories based on predicted risk.</a:t>
            </a:r>
          </a:p>
          <a:p>
            <a:pPr marL="342900" lvl="0" indent="-342900" algn="just">
              <a:buFont typeface="Arial" panose="020B0604020202020204" pitchFamily="34" charset="0"/>
              <a:buChar char="•"/>
            </a:pPr>
            <a:r>
              <a:rPr lang="en-IN" dirty="0"/>
              <a:t>To compare model performance using standard evaluation metrics.</a:t>
            </a:r>
          </a:p>
          <a:p>
            <a:pPr marL="342900" lvl="0" indent="-342900" algn="just">
              <a:buFont typeface="Arial" panose="020B0604020202020204" pitchFamily="34" charset="0"/>
              <a:buChar char="•"/>
            </a:pPr>
            <a:r>
              <a:rPr lang="en-IN" dirty="0"/>
              <a:t>To support accurate, data-driven, and responsible lending decisions.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604565011"/>
              </p:ext>
            </p:extLst>
          </p:nvPr>
        </p:nvGraphicFramePr>
        <p:xfrm>
          <a:off x="274646" y="689466"/>
          <a:ext cx="11642705" cy="510879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Hilal et. al.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rPr>
                        <a:t>3</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t>
                      </a:r>
                    </a:p>
                  </a:txBody>
                  <a:tcPr/>
                </a:tc>
                <a:tc>
                  <a:txBody>
                    <a:bodyPr/>
                    <a:lstStyle/>
                    <a:p>
                      <a:r>
                        <a:rPr lang="en-IN"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Intelligent Epileptic Seizure Detection and Classification Model Using Optimal Deep Canonical Sparse Autoencoder,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Biology, 2022-mdpi</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Coyote optimization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(COA) for feature selection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Krill herd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(KHA) for parameter tuning</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intelligent deep canonical sparse autoencoder-based epileptic seizure detection and classification model using EEG signals.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It achieves a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maximum</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accuracy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of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98.67%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98.73%</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under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binary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multi-classification,</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respectively.</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The paper does not mention the specific limitations of the proposed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DCSAE-ESDC </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technique or the experimental analysis conducted using the benchmark epileptic seizure dataset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latin typeface="Times New Roman" panose="02020603050405020304" pitchFamily="18" charset="0"/>
                          <a:cs typeface="Times New Roman" panose="02020603050405020304" pitchFamily="18" charset="0"/>
                        </a:rPr>
                        <a:t>Baek &amp; Kim [1]</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i="0" dirty="0">
                          <a:solidFill>
                            <a:srgbClr val="FF0000"/>
                          </a:solidFill>
                          <a:latin typeface="Times New Roman" panose="02020603050405020304" pitchFamily="18" charset="0"/>
                          <a:cs typeface="Times New Roman" panose="02020603050405020304" pitchFamily="18" charset="0"/>
                        </a:rPr>
                        <a:t>A Comparative Assessment of Credit Risk Model Based on Machine Learning – A Case Study of Bank Loan Data (2020)</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 Logistic Regression</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 Decision Tree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 Random Forest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 Naive Bayes &amp; KNN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Compared 5 ML classifiers for credit scoring.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Random Forest performed best in precision, recall, AUC and accuracy.</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Focuses mainly on model comparison. </a:t>
                      </a:r>
                    </a:p>
                    <a:p>
                      <a:pPr marL="285750" indent="-285750" algn="l" defTabSz="914400" rtl="0" eaLnBrk="1" latinLnBrk="0" hangingPunct="1">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Further work can explore more advanced and explainable models.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latin typeface="Times New Roman" panose="02020603050405020304" pitchFamily="18" charset="0"/>
                          <a:cs typeface="Times New Roman" panose="02020603050405020304" pitchFamily="18" charset="0"/>
                        </a:rPr>
                        <a:t>Dumitrescu et al. [2]</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i="0" dirty="0">
                          <a:solidFill>
                            <a:srgbClr val="FF0000"/>
                          </a:solidFill>
                          <a:latin typeface="Times New Roman" panose="02020603050405020304" pitchFamily="18" charset="0"/>
                          <a:cs typeface="Times New Roman" panose="02020603050405020304" pitchFamily="18" charset="0"/>
                        </a:rPr>
                        <a:t>Machine Learning for Credit Scoring: Improving Logistic Regression with Non-linear Decision-tree Effects (2022)</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Logistic Regression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Decision-tree-based feature engineering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Penalised Logistic Tree Regression</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Combines interpretability of Logistic Regression with nonlinear patterns from decision trees.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 Improves credit-risk prediction.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More complex than standard Logistic Regression. </a:t>
                      </a:r>
                    </a:p>
                    <a:p>
                      <a:pPr marL="285750" indent="-285750" algn="l" defTabSz="914400" rtl="0" eaLnBrk="1" latinLnBrk="0" hangingPunct="1">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Further research can improve interpretability and practical deployment.</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r>
              <a:rPr lang="en-GB" dirty="0"/>
              <a:t>11-09-2026</a:t>
            </a:r>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BDF083D-C058-EACF-058D-2D91C5A842BF}"/>
              </a:ext>
            </a:extLst>
          </p:cNvPr>
          <p:cNvSpPr txBox="1"/>
          <p:nvPr/>
        </p:nvSpPr>
        <p:spPr>
          <a:xfrm>
            <a:off x="1061885" y="1801108"/>
            <a:ext cx="9468464" cy="2308324"/>
          </a:xfrm>
          <a:prstGeom prst="rect">
            <a:avLst/>
          </a:prstGeom>
          <a:noFill/>
        </p:spPr>
        <p:txBody>
          <a:bodyPr wrap="square">
            <a:spAutoFit/>
          </a:bodyPr>
          <a:lstStyle/>
          <a:p>
            <a:pPr marL="342900" lvl="0" indent="-342900" algn="just">
              <a:buFont typeface="Arial" panose="020B0604020202020204" pitchFamily="34" charset="0"/>
              <a:buChar char="•"/>
            </a:pPr>
            <a:r>
              <a:rPr lang="en-IN" dirty="0"/>
              <a:t>Traditional loan assessment methods often rely on limited borrower information and predefined rules.</a:t>
            </a:r>
          </a:p>
          <a:p>
            <a:pPr marL="342900" lvl="0" indent="-342900" algn="just">
              <a:buFont typeface="Arial" panose="020B0604020202020204" pitchFamily="34" charset="0"/>
              <a:buChar char="•"/>
            </a:pPr>
            <a:r>
              <a:rPr lang="en-IN" dirty="0"/>
              <a:t>They may fail to identify complex patterns in borrowers’ financial and repayment </a:t>
            </a:r>
            <a:r>
              <a:rPr lang="en-IN" dirty="0" err="1"/>
              <a:t>behavior</a:t>
            </a:r>
            <a:r>
              <a:rPr lang="en-IN" dirty="0"/>
              <a:t>.</a:t>
            </a:r>
          </a:p>
          <a:p>
            <a:pPr marL="342900" lvl="0" indent="-342900" algn="just">
              <a:buFont typeface="Arial" panose="020B0604020202020204" pitchFamily="34" charset="0"/>
              <a:buChar char="•"/>
            </a:pPr>
            <a:r>
              <a:rPr lang="en-IN" dirty="0"/>
              <a:t>This can lead to inaccurate risk assessment, increased loan defaults, and financial losses.</a:t>
            </a:r>
          </a:p>
          <a:p>
            <a:pPr marL="342900" lvl="0" indent="-342900" algn="just">
              <a:buFont typeface="Arial" panose="020B0604020202020204" pitchFamily="34" charset="0"/>
              <a:buChar char="•"/>
            </a:pPr>
            <a:r>
              <a:rPr lang="en-IN" dirty="0"/>
              <a:t>Existing approaches may focus mainly on prediction without providing clear </a:t>
            </a:r>
            <a:r>
              <a:rPr lang="en-IN" b="1" dirty="0"/>
              <a:t>risk categorization and actionable insights</a:t>
            </a:r>
            <a:r>
              <a:rPr lang="en-IN" dirty="0"/>
              <a:t>.</a:t>
            </a:r>
          </a:p>
          <a:p>
            <a:pPr marL="342900" lvl="0" indent="-342900" algn="just">
              <a:buFont typeface="Arial" panose="020B0604020202020204" pitchFamily="34" charset="0"/>
              <a:buChar char="•"/>
            </a:pPr>
            <a:r>
              <a:rPr lang="en-IN" dirty="0"/>
              <a:t>Therefore, an integrated </a:t>
            </a:r>
            <a:r>
              <a:rPr lang="en-IN" b="1" dirty="0"/>
              <a:t>data-driven and machine learning-based credit risk </a:t>
            </a:r>
            <a:r>
              <a:rPr lang="en-IN" b="1" dirty="0" err="1"/>
              <a:t>analyzer</a:t>
            </a:r>
            <a:r>
              <a:rPr lang="en-IN" dirty="0"/>
              <a:t> is needed to improve loan-risk assessment and support responsible lending decisions.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D3CD3A18-12ED-0472-08B2-5C0A38604D37}"/>
              </a:ext>
            </a:extLst>
          </p:cNvPr>
          <p:cNvSpPr txBox="1"/>
          <p:nvPr/>
        </p:nvSpPr>
        <p:spPr>
          <a:xfrm>
            <a:off x="1130710" y="1781033"/>
            <a:ext cx="9969909" cy="3139321"/>
          </a:xfrm>
          <a:prstGeom prst="rect">
            <a:avLst/>
          </a:prstGeom>
          <a:noFill/>
        </p:spPr>
        <p:txBody>
          <a:bodyPr wrap="square">
            <a:spAutoFit/>
          </a:bodyPr>
          <a:lstStyle/>
          <a:p>
            <a:pPr marL="342900" lvl="0" indent="-342900" algn="just">
              <a:buFont typeface="Arial" panose="020B0604020202020204" pitchFamily="34" charset="0"/>
              <a:buChar char="•"/>
            </a:pPr>
            <a:r>
              <a:rPr lang="en-IN" b="1" dirty="0"/>
              <a:t>Data-Driven Risk Assessment:</a:t>
            </a:r>
            <a:r>
              <a:rPr lang="en-IN" dirty="0"/>
              <a:t> Uses borrower and loan data to identify hidden patterns in credit risk.</a:t>
            </a:r>
          </a:p>
          <a:p>
            <a:pPr marL="342900" lvl="0" indent="-342900" algn="just">
              <a:buFont typeface="Arial" panose="020B0604020202020204" pitchFamily="34" charset="0"/>
              <a:buChar char="•"/>
            </a:pPr>
            <a:r>
              <a:rPr lang="en-IN" b="1" dirty="0"/>
              <a:t>Multiple ML Models:</a:t>
            </a:r>
            <a:r>
              <a:rPr lang="en-IN" dirty="0"/>
              <a:t> Compares Logistic Regression, Decision Tree, and Ensemble Models to select an effective prediction approach.</a:t>
            </a:r>
          </a:p>
          <a:p>
            <a:pPr marL="342900" lvl="0" indent="-342900" algn="just">
              <a:buFont typeface="Arial" panose="020B0604020202020204" pitchFamily="34" charset="0"/>
              <a:buChar char="•"/>
            </a:pPr>
            <a:r>
              <a:rPr lang="en-IN" b="1" dirty="0"/>
              <a:t>Risk Categorization:</a:t>
            </a:r>
            <a:r>
              <a:rPr lang="en-IN" dirty="0"/>
              <a:t> Classifies applicants into different risk levels instead of providing only a loan default prediction.</a:t>
            </a:r>
          </a:p>
          <a:p>
            <a:pPr marL="342900" lvl="0" indent="-342900" algn="just">
              <a:buFont typeface="Arial" panose="020B0604020202020204" pitchFamily="34" charset="0"/>
              <a:buChar char="•"/>
            </a:pPr>
            <a:r>
              <a:rPr lang="en-IN" b="1" dirty="0"/>
              <a:t>Actionable Insights:</a:t>
            </a:r>
            <a:r>
              <a:rPr lang="en-IN" dirty="0"/>
              <a:t> Converts model predictions into meaningful information to support lending decisions.</a:t>
            </a:r>
          </a:p>
          <a:p>
            <a:pPr marL="342900" lvl="0" indent="-342900" algn="just">
              <a:buFont typeface="Arial" panose="020B0604020202020204" pitchFamily="34" charset="0"/>
              <a:buChar char="•"/>
            </a:pPr>
            <a:r>
              <a:rPr lang="en-IN" b="1" dirty="0"/>
              <a:t>Integrated Analytics:</a:t>
            </a:r>
            <a:r>
              <a:rPr lang="en-IN" dirty="0"/>
              <a:t> Combines data preprocessing, EDA, machine learning, and risk analysis in a single system.</a:t>
            </a:r>
          </a:p>
          <a:p>
            <a:pPr marL="342900" lvl="0" indent="-342900" algn="just">
              <a:buFont typeface="Arial" panose="020B0604020202020204" pitchFamily="34" charset="0"/>
              <a:buChar char="•"/>
            </a:pPr>
            <a:r>
              <a:rPr lang="en-IN" b="1" dirty="0"/>
              <a:t>Scalable Approach:</a:t>
            </a:r>
            <a:r>
              <a:rPr lang="en-IN" dirty="0"/>
              <a:t> Can be adapted to different lending environments and datasets.</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B052F10A-E732-5CF9-35F7-FE71CB843827}"/>
              </a:ext>
            </a:extLst>
          </p:cNvPr>
          <p:cNvSpPr txBox="1"/>
          <p:nvPr/>
        </p:nvSpPr>
        <p:spPr>
          <a:xfrm>
            <a:off x="973394" y="1505628"/>
            <a:ext cx="10373032" cy="3662541"/>
          </a:xfrm>
          <a:prstGeom prst="rect">
            <a:avLst/>
          </a:prstGeom>
          <a:noFill/>
        </p:spPr>
        <p:txBody>
          <a:bodyPr wrap="square">
            <a:spAutoFit/>
          </a:bodyPr>
          <a:lstStyle/>
          <a:p>
            <a:pPr algn="just">
              <a:buNone/>
            </a:pPr>
            <a:r>
              <a:rPr lang="en-IN" b="1" dirty="0"/>
              <a:t>Feasibility</a:t>
            </a:r>
            <a:endParaRPr lang="en-IN" dirty="0"/>
          </a:p>
          <a:p>
            <a:pPr marL="342900" lvl="0" indent="-342900" algn="just">
              <a:buFont typeface="Arial" panose="020B0604020202020204" pitchFamily="34" charset="0"/>
              <a:buChar char="•"/>
            </a:pPr>
            <a:r>
              <a:rPr lang="en-IN" sz="1600" b="1" dirty="0"/>
              <a:t>Technical:</a:t>
            </a:r>
            <a:r>
              <a:rPr lang="en-IN" sz="1600" dirty="0"/>
              <a:t> Uses Python, Pandas, Scikit-learn, and visualization tools that are widely available and easy to implement.</a:t>
            </a:r>
          </a:p>
          <a:p>
            <a:pPr marL="342900" lvl="0" indent="-342900" algn="just">
              <a:buFont typeface="Arial" panose="020B0604020202020204" pitchFamily="34" charset="0"/>
              <a:buChar char="•"/>
            </a:pPr>
            <a:r>
              <a:rPr lang="en-IN" sz="1600" b="1" dirty="0"/>
              <a:t>Data:</a:t>
            </a:r>
            <a:r>
              <a:rPr lang="en-IN" sz="1600" dirty="0"/>
              <a:t> Historical loan/credit datasets are available for training and evaluation.</a:t>
            </a:r>
          </a:p>
          <a:p>
            <a:pPr marL="342900" lvl="0" indent="-342900" algn="just">
              <a:buFont typeface="Arial" panose="020B0604020202020204" pitchFamily="34" charset="0"/>
              <a:buChar char="•"/>
            </a:pPr>
            <a:r>
              <a:rPr lang="en-IN" sz="1600" b="1" dirty="0"/>
              <a:t>Economic:</a:t>
            </a:r>
            <a:r>
              <a:rPr lang="en-IN" sz="1600" dirty="0"/>
              <a:t> Requires minimal cost as the project mainly uses open-source tools and datasets.</a:t>
            </a:r>
          </a:p>
          <a:p>
            <a:pPr marL="342900" lvl="0" indent="-342900" algn="just">
              <a:buFont typeface="Arial" panose="020B0604020202020204" pitchFamily="34" charset="0"/>
              <a:buChar char="•"/>
            </a:pPr>
            <a:r>
              <a:rPr lang="en-IN" sz="1600" b="1" dirty="0"/>
              <a:t>Operational:</a:t>
            </a:r>
            <a:r>
              <a:rPr lang="en-IN" sz="1600" dirty="0"/>
              <a:t> Simple and user-friendly system that can provide quick credit-risk insights.</a:t>
            </a:r>
          </a:p>
          <a:p>
            <a:pPr algn="just">
              <a:buNone/>
            </a:pPr>
            <a:endParaRPr lang="en-IN" b="1" dirty="0"/>
          </a:p>
          <a:p>
            <a:pPr algn="just">
              <a:buNone/>
            </a:pPr>
            <a:r>
              <a:rPr lang="en-IN" b="1" dirty="0"/>
              <a:t>Project Plan</a:t>
            </a:r>
            <a:endParaRPr lang="en-IN" dirty="0"/>
          </a:p>
          <a:p>
            <a:pPr marL="342900" lvl="0" indent="-342900" algn="just">
              <a:buFont typeface="+mj-lt"/>
              <a:buAutoNum type="arabicPeriod"/>
            </a:pPr>
            <a:r>
              <a:rPr lang="en-IN" sz="1600" dirty="0"/>
              <a:t>Data Collection &amp; Preprocessing</a:t>
            </a:r>
          </a:p>
          <a:p>
            <a:pPr marL="342900" lvl="0" indent="-342900" algn="just">
              <a:buFont typeface="+mj-lt"/>
              <a:buAutoNum type="arabicPeriod"/>
            </a:pPr>
            <a:r>
              <a:rPr lang="en-IN" sz="1600" dirty="0"/>
              <a:t>EDA &amp; Feature Engineering</a:t>
            </a:r>
          </a:p>
          <a:p>
            <a:pPr marL="342900" lvl="0" indent="-342900" algn="just">
              <a:buFont typeface="+mj-lt"/>
              <a:buAutoNum type="arabicPeriod"/>
            </a:pPr>
            <a:r>
              <a:rPr lang="en-IN" sz="1600" dirty="0"/>
              <a:t>ML Model Development</a:t>
            </a:r>
          </a:p>
          <a:p>
            <a:pPr marL="342900" lvl="0" indent="-342900" algn="just">
              <a:buFont typeface="+mj-lt"/>
              <a:buAutoNum type="arabicPeriod"/>
            </a:pPr>
            <a:r>
              <a:rPr lang="en-IN" sz="1600" dirty="0"/>
              <a:t>Model Evaluation &amp; Comparison</a:t>
            </a:r>
          </a:p>
          <a:p>
            <a:pPr marL="342900" lvl="0" indent="-342900" algn="just">
              <a:buFont typeface="+mj-lt"/>
              <a:buAutoNum type="arabicPeriod"/>
            </a:pPr>
            <a:r>
              <a:rPr lang="en-IN" sz="1600" dirty="0"/>
              <a:t>Risk Prediction &amp; Dashboard</a:t>
            </a:r>
          </a:p>
          <a:p>
            <a:pPr marL="342900" lvl="0" indent="-342900" algn="just">
              <a:buFont typeface="+mj-lt"/>
              <a:buAutoNum type="arabicPeriod"/>
            </a:pPr>
            <a:r>
              <a:rPr lang="en-IN" sz="1600" dirty="0"/>
              <a:t>Testing, Documentation &amp; Final Deployment</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8F34-74CD-3B4D-5298-753AFF290DA1}"/>
              </a:ext>
            </a:extLst>
          </p:cNvPr>
          <p:cNvSpPr>
            <a:spLocks noGrp="1"/>
          </p:cNvSpPr>
          <p:nvPr>
            <p:ph type="title"/>
          </p:nvPr>
        </p:nvSpPr>
        <p:spPr/>
        <p:txBody>
          <a:bodyPr>
            <a:normAutofit/>
          </a:bodyPr>
          <a:lstStyle/>
          <a:p>
            <a:r>
              <a:rPr lang="en-GB" sz="2800" dirty="0"/>
              <a:t>TIMELINE</a:t>
            </a:r>
            <a:endParaRPr lang="en-IN" sz="2800" dirty="0"/>
          </a:p>
        </p:txBody>
      </p:sp>
      <p:graphicFrame>
        <p:nvGraphicFramePr>
          <p:cNvPr id="4" name="Content Placeholder 3">
            <a:extLst>
              <a:ext uri="{FF2B5EF4-FFF2-40B4-BE49-F238E27FC236}">
                <a16:creationId xmlns:a16="http://schemas.microsoft.com/office/drawing/2014/main" id="{7A7460F8-6701-C084-D753-8D48E3F575D8}"/>
              </a:ext>
            </a:extLst>
          </p:cNvPr>
          <p:cNvGraphicFramePr>
            <a:graphicFrameLocks noGrp="1"/>
          </p:cNvGraphicFramePr>
          <p:nvPr>
            <p:ph idx="1"/>
            <p:extLst>
              <p:ext uri="{D42A27DB-BD31-4B8C-83A1-F6EECF244321}">
                <p14:modId xmlns:p14="http://schemas.microsoft.com/office/powerpoint/2010/main" val="249152557"/>
              </p:ext>
            </p:extLst>
          </p:nvPr>
        </p:nvGraphicFramePr>
        <p:xfrm>
          <a:off x="838200" y="1825625"/>
          <a:ext cx="10515600" cy="2874193"/>
        </p:xfrm>
        <a:graphic>
          <a:graphicData uri="http://schemas.openxmlformats.org/drawingml/2006/table">
            <a:tbl>
              <a:tblPr firstRow="1" bandRow="1">
                <a:tableStyleId>{21E4AEA4-8DFA-4A89-87EB-49C32662AFE0}</a:tableStyleId>
              </a:tblPr>
              <a:tblGrid>
                <a:gridCol w="2103120">
                  <a:extLst>
                    <a:ext uri="{9D8B030D-6E8A-4147-A177-3AD203B41FA5}">
                      <a16:colId xmlns:a16="http://schemas.microsoft.com/office/drawing/2014/main" val="283627888"/>
                    </a:ext>
                  </a:extLst>
                </a:gridCol>
                <a:gridCol w="2103120">
                  <a:extLst>
                    <a:ext uri="{9D8B030D-6E8A-4147-A177-3AD203B41FA5}">
                      <a16:colId xmlns:a16="http://schemas.microsoft.com/office/drawing/2014/main" val="3582408310"/>
                    </a:ext>
                  </a:extLst>
                </a:gridCol>
                <a:gridCol w="2103120">
                  <a:extLst>
                    <a:ext uri="{9D8B030D-6E8A-4147-A177-3AD203B41FA5}">
                      <a16:colId xmlns:a16="http://schemas.microsoft.com/office/drawing/2014/main" val="94479452"/>
                    </a:ext>
                  </a:extLst>
                </a:gridCol>
                <a:gridCol w="2103120">
                  <a:extLst>
                    <a:ext uri="{9D8B030D-6E8A-4147-A177-3AD203B41FA5}">
                      <a16:colId xmlns:a16="http://schemas.microsoft.com/office/drawing/2014/main" val="3701975035"/>
                    </a:ext>
                  </a:extLst>
                </a:gridCol>
                <a:gridCol w="2103120">
                  <a:extLst>
                    <a:ext uri="{9D8B030D-6E8A-4147-A177-3AD203B41FA5}">
                      <a16:colId xmlns:a16="http://schemas.microsoft.com/office/drawing/2014/main" val="2337024442"/>
                    </a:ext>
                  </a:extLst>
                </a:gridCol>
              </a:tblGrid>
              <a:tr h="410599">
                <a:tc>
                  <a:txBody>
                    <a:bodyPr/>
                    <a:lstStyle/>
                    <a:p>
                      <a:pPr>
                        <a:buNone/>
                      </a:pPr>
                      <a:r>
                        <a:rPr lang="en-IN" dirty="0"/>
                        <a:t>Phase</a:t>
                      </a:r>
                    </a:p>
                  </a:txBody>
                  <a:tcPr anchor="ctr"/>
                </a:tc>
                <a:tc>
                  <a:txBody>
                    <a:bodyPr/>
                    <a:lstStyle/>
                    <a:p>
                      <a:r>
                        <a:rPr lang="en-IN"/>
                        <a:t>W1</a:t>
                      </a:r>
                      <a:endParaRPr lang="en-IN" dirty="0"/>
                    </a:p>
                  </a:txBody>
                  <a:tcPr/>
                </a:tc>
                <a:tc>
                  <a:txBody>
                    <a:bodyPr/>
                    <a:lstStyle/>
                    <a:p>
                      <a:r>
                        <a:rPr lang="en-GB"/>
                        <a:t>W2</a:t>
                      </a:r>
                      <a:endParaRPr lang="en-IN" dirty="0"/>
                    </a:p>
                  </a:txBody>
                  <a:tcPr/>
                </a:tc>
                <a:tc>
                  <a:txBody>
                    <a:bodyPr/>
                    <a:lstStyle/>
                    <a:p>
                      <a:r>
                        <a:rPr lang="en-GB"/>
                        <a:t>W3</a:t>
                      </a:r>
                      <a:endParaRPr lang="en-IN" dirty="0"/>
                    </a:p>
                  </a:txBody>
                  <a:tcPr/>
                </a:tc>
                <a:tc>
                  <a:txBody>
                    <a:bodyPr/>
                    <a:lstStyle/>
                    <a:p>
                      <a:r>
                        <a:rPr lang="en-GB"/>
                        <a:t>W4</a:t>
                      </a:r>
                      <a:endParaRPr lang="en-IN" dirty="0"/>
                    </a:p>
                  </a:txBody>
                  <a:tcPr/>
                </a:tc>
                <a:extLst>
                  <a:ext uri="{0D108BD9-81ED-4DB2-BD59-A6C34878D82A}">
                    <a16:rowId xmlns:a16="http://schemas.microsoft.com/office/drawing/2014/main" val="2954473531"/>
                  </a:ext>
                </a:extLst>
              </a:tr>
              <a:tr h="410599">
                <a:tc>
                  <a:txBody>
                    <a:bodyPr/>
                    <a:lstStyle/>
                    <a:p>
                      <a:r>
                        <a:rPr lang="en-IN" dirty="0"/>
                        <a:t>Data Collection</a:t>
                      </a:r>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02956605"/>
                  </a:ext>
                </a:extLst>
              </a:tr>
              <a:tr h="410599">
                <a:tc>
                  <a:txBody>
                    <a:bodyPr/>
                    <a:lstStyle/>
                    <a:p>
                      <a:r>
                        <a:rPr lang="en-IN" dirty="0"/>
                        <a:t>Preprocessing</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84545554"/>
                  </a:ext>
                </a:extLst>
              </a:tr>
              <a:tr h="410599">
                <a:tc>
                  <a:txBody>
                    <a:bodyPr/>
                    <a:lstStyle/>
                    <a:p>
                      <a:r>
                        <a:rPr lang="en-IN" dirty="0"/>
                        <a:t>EDA &amp; Features</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151434519"/>
                  </a:ext>
                </a:extLst>
              </a:tr>
              <a:tr h="410599">
                <a:tc>
                  <a:txBody>
                    <a:bodyPr/>
                    <a:lstStyle/>
                    <a:p>
                      <a:r>
                        <a:rPr lang="en-IN" dirty="0"/>
                        <a:t>ML Models</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293987945"/>
                  </a:ext>
                </a:extLst>
              </a:tr>
              <a:tr h="410599">
                <a:tc>
                  <a:txBody>
                    <a:bodyPr/>
                    <a:lstStyle/>
                    <a:p>
                      <a:r>
                        <a:rPr lang="en-IN" dirty="0"/>
                        <a:t>Evaluation</a:t>
                      </a:r>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416155341"/>
                  </a:ext>
                </a:extLst>
              </a:tr>
              <a:tr h="410599">
                <a:tc>
                  <a:txBody>
                    <a:bodyPr/>
                    <a:lstStyle/>
                    <a:p>
                      <a:r>
                        <a:rPr lang="en-IN" dirty="0"/>
                        <a:t>Dashboard</a:t>
                      </a:r>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429442652"/>
                  </a:ext>
                </a:extLst>
              </a:tr>
            </a:tbl>
          </a:graphicData>
        </a:graphic>
      </p:graphicFrame>
    </p:spTree>
    <p:extLst>
      <p:ext uri="{BB962C8B-B14F-4D97-AF65-F5344CB8AC3E}">
        <p14:creationId xmlns:p14="http://schemas.microsoft.com/office/powerpoint/2010/main" val="3900139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736</TotalTime>
  <Words>783</Words>
  <Application>Microsoft Office PowerPoint</Application>
  <PresentationFormat>Widescreen</PresentationFormat>
  <Paragraphs>126</Paragraphs>
  <Slides>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Pasupuleti Moukshitha</cp:lastModifiedBy>
  <cp:revision>33</cp:revision>
  <dcterms:created xsi:type="dcterms:W3CDTF">2026-08-08T06:33:56Z</dcterms:created>
  <dcterms:modified xsi:type="dcterms:W3CDTF">2026-09-11T03:26:52Z</dcterms:modified>
</cp:coreProperties>
</file>